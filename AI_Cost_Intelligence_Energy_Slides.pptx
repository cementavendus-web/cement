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331720"/>
            <a:ext cx="219456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104281"/>
                </a:solidFill>
                <a:latin typeface="Calibri"/>
              </a:rPr>
              <a:t>The Cost, Intelligence &amp; Energy of AI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2514E"/>
                </a:solidFill>
                <a:latin typeface="Calibri"/>
              </a:rPr>
              <a:t>Token cost vs. intelligence — and what a shift to open-weight models could mean for data-center 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77639"/>
            <a:ext cx="3611880" cy="150876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977639"/>
            <a:ext cx="73152" cy="15087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178807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2A78D6"/>
                </a:solidFill>
                <a:latin typeface="Calibri"/>
              </a:rPr>
              <a:t>~0.24–0.34 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818887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per AI query today (~10× below old estimates)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3977639"/>
            <a:ext cx="3611880" cy="150876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3977639"/>
            <a:ext cx="73152" cy="150876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4178807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08300"/>
                </a:solidFill>
                <a:latin typeface="Calibri"/>
              </a:rPr>
              <a:t>−25.8% J/token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818887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open MoE (GPT-OSS) vs dense (Qwen3) — measured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3977639"/>
            <a:ext cx="3611880" cy="150876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3977639"/>
            <a:ext cx="73152" cy="15087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4178807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B6834"/>
                </a:solidFill>
                <a:latin typeface="Calibri"/>
              </a:rPr>
              <a:t>5 → &gt;50 GW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818887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US AI power, today → 2030 (Epoch/EPRI)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898781"/>
                </a:solidFill>
                <a:latin typeface="Calibri"/>
              </a:rPr>
              <a:t>Prepared 19 Jul 2026  ·  Intelligence data: Artificial Analysis v4.1 (your table)  ·  Energy/capacity data: primary sources,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COST VS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104281"/>
                </a:solidFill>
                <a:latin typeface="Calibri"/>
              </a:rPr>
              <a:t>Frontier intelligence is converging — and open weights are inside the pack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4373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6002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Top 8 models span just 44–60 on the index — </a:t>
            </a:r>
            <a:r>
              <a:rPr sz="1400">
                <a:solidFill>
                  <a:srgbClr val="52514E"/>
                </a:solidFill>
              </a:rPr>
              <a:t>the intelligence gap is narrowing.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08300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Kimi K3 (open, 2.8T) </a:t>
            </a:r>
            <a:r>
              <a:rPr sz="1400">
                <a:solidFill>
                  <a:srgbClr val="52514E"/>
                </a:solidFill>
              </a:rPr>
              <a:t>scores 57 at $0.94/task — matching closed frontier models.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Cost varies ~13× </a:t>
            </a:r>
            <a:r>
              <a:rPr sz="1400">
                <a:solidFill>
                  <a:srgbClr val="52514E"/>
                </a:solidFill>
              </a:rPr>
              <a:t>across similar-intelligence models ($0.21 → $2.75).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52514E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Cheapest capable tier </a:t>
            </a:r>
            <a:r>
              <a:rPr sz="1400">
                <a:solidFill>
                  <a:srgbClr val="52514E"/>
                </a:solidFill>
              </a:rPr>
              <a:t>(Luna, Grok, Terra) clusters under $0.55/task.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1676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Calibri"/>
              </a:rPr>
              <a:t>Source: Artificial Analysis Intelligence Index v4.1 (your table). Not independently re-verified in this pass — confirm at artificialanalysis.ai. $/task = AA blended cost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COST-EFFICIENCY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104281"/>
                </a:solidFill>
                <a:latin typeface="Calibri"/>
              </a:rPr>
              <a:t>Intelligence per dollar: cheap closed models and open weights lead</a:t>
            </a:r>
          </a:p>
        </p:txBody>
      </p:sp>
      <p:pic>
        <p:nvPicPr>
          <p:cNvPr id="5" name="Picture 4" descr="int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3780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6002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Intelligence-per-$ = AAII ÷ $/task. </a:t>
            </a:r>
            <a:r>
              <a:rPr sz="1400">
                <a:solidFill>
                  <a:srgbClr val="52514E"/>
                </a:solidFill>
              </a:rPr>
              <a:t>A pure efficiency ratio.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GPT-5.6 Luna &amp; Grok 4.5 </a:t>
            </a:r>
            <a:r>
              <a:rPr sz="1400">
                <a:solidFill>
                  <a:srgbClr val="52514E"/>
                </a:solidFill>
              </a:rPr>
              <a:t>deliver the most intelligence per dollar of the closed models.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08300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Kimi K2.6 (open) </a:t>
            </a:r>
            <a:r>
              <a:rPr sz="1400">
                <a:solidFill>
                  <a:srgbClr val="52514E"/>
                </a:solidFill>
              </a:rPr>
              <a:t>is highly cost-efficient — open weights compete hard on price.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52514E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Premium models </a:t>
            </a:r>
            <a:r>
              <a:rPr sz="1400">
                <a:solidFill>
                  <a:srgbClr val="52514E"/>
                </a:solidFill>
              </a:rPr>
              <a:t>(Fable 5, Opus 4.8) trade $/task for top-end capability.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1676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Calibri"/>
              </a:rPr>
              <a:t>Derived live in the workbook (tab 1). Ratio uses your AAII v4.1 scores and $/task figures verbatim.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ELECTRICITY PER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104281"/>
                </a:solidFill>
                <a:latin typeface="Calibri"/>
              </a:rPr>
              <a:t>A single query now costs ~0.24–0.34 Wh — about 10× less than the old myth</a:t>
            </a:r>
          </a:p>
        </p:txBody>
      </p:sp>
      <p:pic>
        <p:nvPicPr>
          <p:cNvPr id="5" name="Picture 4" descr="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680960" cy="3892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60020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Google Gemini: 0.24 Wh </a:t>
            </a:r>
            <a:r>
              <a:rPr sz="1400">
                <a:solidFill>
                  <a:srgbClr val="52514E"/>
                </a:solidFill>
              </a:rPr>
              <a:t>full-stack (measured); 0.10 Wh chip-only.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OpenAI: 0.34 Wh </a:t>
            </a:r>
            <a:r>
              <a:rPr sz="1400">
                <a:solidFill>
                  <a:srgbClr val="52514E"/>
                </a:solidFill>
              </a:rPr>
              <a:t>average query (Altman, estimate).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08300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Google cut this 33× </a:t>
            </a:r>
            <a:r>
              <a:rPr sz="1400">
                <a:solidFill>
                  <a:srgbClr val="52514E"/>
                </a:solidFill>
              </a:rPr>
              <a:t>in a single year (May '24 → May '25).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52514E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Per token: ~1.7 J </a:t>
            </a:r>
            <a:r>
              <a:rPr sz="1400">
                <a:solidFill>
                  <a:srgbClr val="52514E"/>
                </a:solidFill>
              </a:rPr>
              <a:t>measured; decode dominates. 70× params → only 7.3× energy.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898781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Excludes training energy </a:t>
            </a:r>
            <a:r>
              <a:rPr sz="1400">
                <a:solidFill>
                  <a:srgbClr val="52514E"/>
                </a:solidFill>
              </a:rPr>
              <a:t>and reasoning/long queries (which run higher).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1676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Calibri"/>
              </a:rPr>
              <a:t>Sources: Google Cloud &amp; arXiv:2508.15734 (Aug 2025); Altman 'Gentle Singularity' (Jun 2025); Epoch AI (Feb 2025); ML.ENERGY / TokenPowerBench. Blue = measured, orange = estimate.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OPEN-SOURCE SHIFT → DC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104281"/>
                </a:solidFill>
                <a:latin typeface="Calibri"/>
              </a:rPr>
              <a:t>The data-center impact depends on HOW open models are served</a:t>
            </a:r>
          </a:p>
        </p:txBody>
      </p:sp>
      <p:pic>
        <p:nvPicPr>
          <p:cNvPr id="5" name="Picture 4" descr="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41643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200" y="155448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04281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Open weights ≠ automatically greener. </a:t>
            </a:r>
            <a:r>
              <a:rPr sz="1400">
                <a:solidFill>
                  <a:srgbClr val="52514E"/>
                </a:solidFill>
              </a:rPr>
              <a:t>The deployment decides.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08300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A — cloud-served, efficient: </a:t>
            </a:r>
            <a:r>
              <a:rPr sz="1400">
                <a:solidFill>
                  <a:srgbClr val="52514E"/>
                </a:solidFill>
              </a:rPr>
              <a:t>−14% power. MoE sparsity wins at high utilisation.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B — fragmented self-hosting: </a:t>
            </a:r>
            <a:r>
              <a:rPr sz="1400">
                <a:solidFill>
                  <a:srgbClr val="52514E"/>
                </a:solidFill>
              </a:rPr>
              <a:t>+125%. Idle low-utilisation GPUs still draw power.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E34948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C — self-hosted + induced demand: </a:t>
            </a:r>
            <a:r>
              <a:rPr sz="1400">
                <a:solidFill>
                  <a:srgbClr val="52514E"/>
                </a:solidFill>
              </a:rPr>
              <a:t>+238%. Cheaper access drives more usage (Jevons).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52514E"/>
                </a:solidFill>
              </a:rPr>
              <a:t>▍ </a:t>
            </a:r>
            <a:r>
              <a:rPr b="1" sz="1400">
                <a:solidFill>
                  <a:srgbClr val="0B0B0B"/>
                </a:solidFill>
              </a:rPr>
              <a:t>Levers that decide direction: </a:t>
            </a:r>
            <a:r>
              <a:rPr sz="1400">
                <a:solidFill>
                  <a:srgbClr val="52514E"/>
                </a:solidFill>
              </a:rPr>
              <a:t>utilisation &amp; induced demand — not the license.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1676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Calibri"/>
              </a:rPr>
              <a:t>Illustrative parametric model (workbook tab 5): P0=25 GW, k=0.75, M=1.15/3.0, J=1.5. Baseline anchored to Epoch/EPRI &gt;50 GW US AI by 2030. Change the inputs to test your own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SOURCES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104281"/>
                </a:solidFill>
                <a:latin typeface="Calibri"/>
              </a:rPr>
              <a:t>What's measured, what's estimated, what to double-check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04281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VERIFIED — primary sources 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Google Cloud + arXiv 2508.15734 </a:t>
            </a:r>
            <a:r>
              <a:rPr sz="1300">
                <a:solidFill>
                  <a:srgbClr val="52514E"/>
                </a:solidFill>
              </a:rPr>
              <a:t>Gemini 0.24 Wh, PUE 1.09, 33×/yr (Aug 2025)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Epoch AI </a:t>
            </a:r>
            <a:r>
              <a:rPr sz="1300">
                <a:solidFill>
                  <a:srgbClr val="52514E"/>
                </a:solidFill>
              </a:rPr>
              <a:t>GPT-4o ~0.3 Wh; US 5→50 GW by 2030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008300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ML.ENERGY (NeurIPS'25) </a:t>
            </a:r>
            <a:r>
              <a:rPr sz="1300">
                <a:solidFill>
                  <a:srgbClr val="52514E"/>
                </a:solidFill>
              </a:rPr>
              <a:t>0.12–0.20 J/token, 40 models — measured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008300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arXiv 2508.16700 </a:t>
            </a:r>
            <a:r>
              <a:rPr sz="1300">
                <a:solidFill>
                  <a:srgbClr val="52514E"/>
                </a:solidFill>
              </a:rPr>
              <a:t>GPT-OSS MoE −25.8% J/1k tok — measured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008300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TokenPowerBench (AAAI'26) </a:t>
            </a:r>
            <a:r>
              <a:rPr sz="1300">
                <a:solidFill>
                  <a:srgbClr val="52514E"/>
                </a:solidFill>
              </a:rPr>
              <a:t>engine 25–40%; 7.3× scaling —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04281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TREAT WITH CARE 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EB6834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AA Intelligence Index v4.1 </a:t>
            </a:r>
            <a:r>
              <a:rPr sz="1300">
                <a:solidFill>
                  <a:srgbClr val="52514E"/>
                </a:solidFill>
              </a:rPr>
              <a:t>not machine-verifiable — confirm on the live site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EB6834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IEA 415→945 TWh global DC </a:t>
            </a:r>
            <a:r>
              <a:rPr sz="1300">
                <a:solidFill>
                  <a:srgbClr val="52514E"/>
                </a:solidFill>
              </a:rPr>
              <a:t>fetch failed this pass — confirm at iea.org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EB6834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Vendor self-reported Wh </a:t>
            </a:r>
            <a:r>
              <a:rPr sz="1300">
                <a:solidFill>
                  <a:srgbClr val="52514E"/>
                </a:solidFill>
              </a:rPr>
              <a:t>Google/OpenAI; exclude training energy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EB6834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MoE energy edge </a:t>
            </a:r>
            <a:r>
              <a:rPr sz="1300">
                <a:solidFill>
                  <a:srgbClr val="52514E"/>
                </a:solidFill>
              </a:rPr>
              <a:t>measured single-GPU; may shrink at hyperscaler batch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EB6834"/>
                </a:solidFill>
              </a:rPr>
              <a:t>▍ </a:t>
            </a:r>
            <a:r>
              <a:rPr b="1" sz="1300">
                <a:solidFill>
                  <a:srgbClr val="0B0B0B"/>
                </a:solidFill>
              </a:rPr>
              <a:t>Scenario model </a:t>
            </a:r>
            <a:r>
              <a:rPr sz="1300">
                <a:solidFill>
                  <a:srgbClr val="52514E"/>
                </a:solidFill>
              </a:rPr>
              <a:t>illustrative, not a forecast — shows the levers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1676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898781"/>
                </a:solidFill>
                <a:latin typeface="Calibri"/>
              </a:rPr>
              <a:t>Full source list, URLs and dates in the workbook (tab 6). 24 of 25 extracted claims passed 3-way adversarial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